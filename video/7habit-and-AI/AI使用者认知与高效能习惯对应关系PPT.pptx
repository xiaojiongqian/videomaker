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.jpe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" name="Shape 12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大家好，今天我们来探讨一个非常关键的话题：在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时代，为什么同样的工具，不同的人使用，会产生截然不同的效果？这背后，不仅仅是技术操作的差异，更深层次的，是使用者的认知水平和思维习惯的不同。今天，我们将一起揭示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使用者的认知分层，与高效能人士的三大思维习惯之间，究竟存在着怎样的内在关联。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" name="Shape 1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在开始深入分析之前，我们先思考一个问题：在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时代，人与人之间的差距，究竟在哪里？是谁掌握了更多的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工具吗？还是谁的技术更娴熟？我认为，这些都只是表象。真正的差距，在于我们是否具备了与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时代相匹配的认知和思维方式。接下来，我们将通过一个模型来揭示这背后的逻辑。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这就是我们今天要分享的核心逻辑模型。大家可以看到，整个模型清晰地展示了三层对应关系：首先，你的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认知水平，决定了你是否能做到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主动积极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；其次，你使用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的目的，决定了你是否能做到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以终为始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；最后，你通过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创造的价值，决定了你是否能真正做到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要事优先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。这三层关系层层递进，构成了从认知到行动，再到结果的完整闭环。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Shape 1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我们先来看第一层关系：认知层决定了主动积极性。如果一个人对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的认知停留在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不了解、不关注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的层面，那么他的行为必然是被动和消极的，最终只会被时代淘汰。相反，高认知的人会主动去学习、去了解、去尝试，他们把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看作是提升自我的工具，这种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主动积极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的态度，是他们能够在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时代立足的第一步。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Shape 2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接下来是第二和第三层关系。有了主动积极的态度后，我们还需要明确的目标，这就是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以终为始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。如果只是盲目地使用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，没有目标，那只是浪费时间。只有带着明确的问题和目标去使用，才能让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发挥最大效用。而最终，检验我们是否做到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要事优先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的标准，就是我们通过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创造了什么价值。是停留在低价值的娱乐和信息获取，还是将其应用于核心任务，创造出个人和商业价值？这正是区分普通使用者和高效能人士的关键。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2" name="Shape 2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最后，我们来总结一下。今天分享的核心观点就是：你的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认知，决定了你的主动性；你的使用目的，决定了你的目标感；而你最终创造的价值，则决定了你是否真正抓住了关键。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不仅仅是一个工具，它更像一面镜子，折射出我们每个人的认知高度和思维深度。希望通过今天的分享，大家都能升级自己的认知，主动拥抱变化，在这个充满机遇的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时代，实现属于自己的价值跃迁。谢谢大家！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143000" y="841771"/>
            <a:ext cx="6858000" cy="1790701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143000" y="2701527"/>
            <a:ext cx="6858000" cy="1241822"/>
          </a:xfrm>
          <a:prstGeom prst="rect">
            <a:avLst/>
          </a:prstGeom>
        </p:spPr>
        <p:txBody>
          <a:bodyPr/>
          <a:lstStyle>
            <a:lvl1pPr marL="361950" indent="-266700" algn="ctr">
              <a:buClrTx/>
              <a:buSzTx/>
              <a:buFontTx/>
              <a:buNone/>
              <a:defRPr sz="1800"/>
            </a:lvl1pPr>
            <a:lvl2pPr marL="361950" indent="209550" algn="ctr">
              <a:buClrTx/>
              <a:buSzTx/>
              <a:buFontTx/>
              <a:buNone/>
              <a:defRPr sz="1800"/>
            </a:lvl2pPr>
            <a:lvl3pPr marL="361950" indent="685800" algn="ctr">
              <a:buClrTx/>
              <a:buSzTx/>
              <a:buFontTx/>
              <a:buNone/>
              <a:defRPr sz="1800"/>
            </a:lvl3pPr>
            <a:lvl4pPr marL="361950" indent="1149350" algn="ctr">
              <a:buClrTx/>
              <a:buSzTx/>
              <a:buFontTx/>
              <a:buNone/>
              <a:defRPr sz="1800"/>
            </a:lvl4pPr>
            <a:lvl5pPr marL="361950" indent="1606550" algn="ctr">
              <a:buClrTx/>
              <a:buSzTx/>
              <a:buFontTx/>
              <a:buNone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half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>
            <a:lvl1pPr indent="-317500"/>
            <a:lvl2pPr marL="967316" indent="-370416"/>
            <a:lvl3pPr marL="1498600" indent="-44450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623887" y="1282303"/>
            <a:ext cx="7886701" cy="2139554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623887" y="3442096"/>
            <a:ext cx="7886701" cy="1125141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 indent="-317500"/>
            <a:lvl2pPr marL="967316" indent="-370416"/>
            <a:lvl3pPr marL="1498600" indent="-44450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hape 11"/>
          <p:cNvSpPr txBox="1"/>
          <p:nvPr>
            <p:ph type="body" sz="quarter" idx="2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indent="-317500"/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629841" y="273843"/>
            <a:ext cx="7886701" cy="99417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629841" y="1260871"/>
            <a:ext cx="3868340" cy="617935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 sz="1800"/>
            </a:lvl1pPr>
            <a:lvl2pPr marL="228600" indent="457200">
              <a:buClrTx/>
              <a:buSzTx/>
              <a:buFontTx/>
              <a:buNone/>
              <a:defRPr b="1" sz="1800"/>
            </a:lvl2pPr>
            <a:lvl3pPr marL="228600" indent="914400">
              <a:buClrTx/>
              <a:buSzTx/>
              <a:buFontTx/>
              <a:buNone/>
              <a:defRPr b="1" sz="1800"/>
            </a:lvl3pPr>
            <a:lvl4pPr marL="228600" indent="1371600">
              <a:buClrTx/>
              <a:buSzTx/>
              <a:buFontTx/>
              <a:buNone/>
              <a:defRPr b="1" sz="1800"/>
            </a:lvl4pPr>
            <a:lvl5pPr marL="228600" indent="1828800">
              <a:buClrTx/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hape 37"/>
          <p:cNvSpPr txBox="1"/>
          <p:nvPr>
            <p:ph type="body" sz="quarter" idx="21"/>
          </p:nvPr>
        </p:nvSpPr>
        <p:spPr>
          <a:xfrm>
            <a:off x="629840" y="1878806"/>
            <a:ext cx="3868341" cy="2763442"/>
          </a:xfrm>
          <a:prstGeom prst="rect">
            <a:avLst/>
          </a:prstGeom>
        </p:spPr>
        <p:txBody>
          <a:bodyPr/>
          <a:lstStyle/>
          <a:p>
            <a:pPr indent="-317500"/>
          </a:p>
        </p:txBody>
      </p:sp>
      <p:sp>
        <p:nvSpPr>
          <p:cNvPr id="51" name="Shape 38"/>
          <p:cNvSpPr txBox="1"/>
          <p:nvPr>
            <p:ph type="body" sz="quarter" idx="22"/>
          </p:nvPr>
        </p:nvSpPr>
        <p:spPr>
          <a:xfrm>
            <a:off x="4629149" y="1260871"/>
            <a:ext cx="3887393" cy="617935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 sz="1800"/>
            </a:pPr>
          </a:p>
        </p:txBody>
      </p:sp>
      <p:sp>
        <p:nvSpPr>
          <p:cNvPr id="52" name="Shape 39"/>
          <p:cNvSpPr txBox="1"/>
          <p:nvPr>
            <p:ph type="body" sz="quarter" idx="23"/>
          </p:nvPr>
        </p:nvSpPr>
        <p:spPr>
          <a:xfrm>
            <a:off x="4629149" y="1878806"/>
            <a:ext cx="3887393" cy="2763442"/>
          </a:xfrm>
          <a:prstGeom prst="rect">
            <a:avLst/>
          </a:prstGeom>
        </p:spPr>
        <p:txBody>
          <a:bodyPr/>
          <a:lstStyle/>
          <a:p>
            <a:pPr indent="-317500"/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/>
          <a:lstStyle>
            <a:lvl1pPr indent="-381000">
              <a:buSzPts val="2400"/>
              <a:defRPr sz="2400"/>
            </a:lvl1pPr>
            <a:lvl2pPr marL="966107" indent="-413657">
              <a:buSzPts val="2400"/>
              <a:defRPr sz="2400"/>
            </a:lvl2pPr>
            <a:lvl3pPr marL="1485900" indent="-457200">
              <a:buSzPts val="2400"/>
              <a:defRPr sz="2400"/>
            </a:lvl3pPr>
            <a:lvl4pPr marL="2023110" indent="-518160">
              <a:buSzPts val="2400"/>
              <a:defRPr sz="2400"/>
            </a:lvl4pPr>
            <a:lvl5pPr marL="2480310" indent="-518160">
              <a:buSzPts val="2400"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hape 45"/>
          <p:cNvSpPr txBox="1"/>
          <p:nvPr>
            <p:ph type="body" sz="quarter" idx="21"/>
          </p:nvPr>
        </p:nvSpPr>
        <p:spPr>
          <a:xfrm>
            <a:off x="629840" y="1543049"/>
            <a:ext cx="2949180" cy="2858693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2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Shape 25"/>
          <p:cNvSpPr/>
          <p:nvPr>
            <p:ph type="pic" sz="half" idx="2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629841" y="1543050"/>
            <a:ext cx="2949178" cy="2858692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200"/>
            </a:lvl1pPr>
            <a:lvl2pPr marL="228600" indent="457200">
              <a:buClrTx/>
              <a:buSzTx/>
              <a:buFontTx/>
              <a:buNone/>
              <a:defRPr sz="1200"/>
            </a:lvl2pPr>
            <a:lvl3pPr marL="228600" indent="914400">
              <a:buClrTx/>
              <a:buSzTx/>
              <a:buFontTx/>
              <a:buNone/>
              <a:defRPr sz="1200"/>
            </a:lvl3pPr>
            <a:lvl4pPr marL="228600" indent="1371600">
              <a:buClrTx/>
              <a:buSzTx/>
              <a:buFontTx/>
              <a:buNone/>
              <a:defRPr sz="1200"/>
            </a:lvl4pPr>
            <a:lvl5pPr marL="228600" indent="1828800">
              <a:buClrTx/>
              <a:buSzTx/>
              <a:buFontTx/>
              <a:buNone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sz="half" idx="1"/>
          </p:nvPr>
        </p:nvSpPr>
        <p:spPr>
          <a:xfrm rot="5400000">
            <a:off x="2940248" y="-942380"/>
            <a:ext cx="3263504" cy="7886701"/>
          </a:xfrm>
          <a:prstGeom prst="rect">
            <a:avLst/>
          </a:prstGeom>
        </p:spPr>
        <p:txBody>
          <a:bodyPr/>
          <a:lstStyle>
            <a:lvl1pPr indent="-317500"/>
            <a:lvl2pPr marL="967316" indent="-370416"/>
            <a:lvl3pPr marL="1498600" indent="-44450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5350073" y="1467445"/>
            <a:ext cx="4358879" cy="197167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sz="half" idx="1"/>
          </p:nvPr>
        </p:nvSpPr>
        <p:spPr>
          <a:xfrm rot="5400000">
            <a:off x="1349572" y="-447080"/>
            <a:ext cx="4358880" cy="5800726"/>
          </a:xfrm>
          <a:prstGeom prst="rect">
            <a:avLst/>
          </a:prstGeom>
        </p:spPr>
        <p:txBody>
          <a:bodyPr/>
          <a:lstStyle>
            <a:lvl1pPr indent="-317500"/>
            <a:lvl2pPr marL="967316" indent="-370416"/>
            <a:lvl3pPr marL="1498600" indent="-44450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默认主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306963" y="4808279"/>
            <a:ext cx="208388" cy="191812"/>
          </a:xfrm>
          <a:prstGeom prst="rect">
            <a:avLst/>
          </a:prstGeom>
          <a:ln w="12700">
            <a:miter lim="400000"/>
          </a:ln>
        </p:spPr>
        <p:txBody>
          <a:bodyPr wrap="none" lIns="34275" tIns="34275" rIns="34275" bIns="34275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619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971550" marR="0" indent="-4000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501139" marR="0" indent="-453389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9875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4447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9019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3591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8163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2735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/>
        <a:buChar char="•"/>
        <a:tabLst/>
        <a:defRPr b="0" baseline="0" cap="none" i="0" spc="0" strike="noStrike" sz="2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7B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23" name="AutoShape 3"/>
          <p:cNvSpPr txBox="1"/>
          <p:nvPr/>
        </p:nvSpPr>
        <p:spPr>
          <a:xfrm>
            <a:off x="1016000" y="2381250"/>
            <a:ext cx="10160000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b="1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AI使用者认知与高效能习惯的内在关联</a:t>
            </a:r>
          </a:p>
        </p:txBody>
      </p:sp>
      <p:sp>
        <p:nvSpPr>
          <p:cNvPr id="124" name="Connector 4"/>
          <p:cNvSpPr/>
          <p:nvPr/>
        </p:nvSpPr>
        <p:spPr>
          <a:xfrm>
            <a:off x="5461000" y="3174999"/>
            <a:ext cx="1270064" cy="2"/>
          </a:xfrm>
          <a:prstGeom prst="line">
            <a:avLst/>
          </a:prstGeom>
          <a:ln w="38100">
            <a:solidFill>
              <a:srgbClr val="007B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5" name="AutoShape 5"/>
          <p:cNvSpPr txBox="1"/>
          <p:nvPr/>
        </p:nvSpPr>
        <p:spPr>
          <a:xfrm>
            <a:off x="1016000" y="3524250"/>
            <a:ext cx="1016000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sz="18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从认知分层到思维跃迁的核心逻辑</a:t>
            </a:r>
          </a:p>
        </p:txBody>
      </p:sp>
      <p:pic>
        <p:nvPicPr>
          <p:cNvPr id="126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02000" y="4572000"/>
            <a:ext cx="609600" cy="60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AutoShape 7"/>
          <p:cNvSpPr txBox="1"/>
          <p:nvPr/>
        </p:nvSpPr>
        <p:spPr>
          <a:xfrm>
            <a:off x="2844800" y="5333999"/>
            <a:ext cx="15240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认知分层</a:t>
            </a:r>
          </a:p>
        </p:txBody>
      </p:sp>
      <p:pic>
        <p:nvPicPr>
          <p:cNvPr id="128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91200" y="4572000"/>
            <a:ext cx="609600" cy="60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AutoShape 9"/>
          <p:cNvSpPr txBox="1"/>
          <p:nvPr/>
        </p:nvSpPr>
        <p:spPr>
          <a:xfrm>
            <a:off x="5334000" y="5333999"/>
            <a:ext cx="15240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思维跃迁</a:t>
            </a:r>
          </a:p>
        </p:txBody>
      </p:sp>
      <p:pic>
        <p:nvPicPr>
          <p:cNvPr id="130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280400" y="4572000"/>
            <a:ext cx="609600" cy="60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AutoShape 11"/>
          <p:cNvSpPr txBox="1"/>
          <p:nvPr/>
        </p:nvSpPr>
        <p:spPr>
          <a:xfrm>
            <a:off x="7823200" y="5333999"/>
            <a:ext cx="15240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效能提升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utoShape 2"/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核心问题：AI时代，人与人的差距在哪里？</a:t>
            </a:r>
          </a:p>
        </p:txBody>
      </p:sp>
      <p:sp>
        <p:nvSpPr>
          <p:cNvPr id="136" name="AutoShape 3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>
            <a:solidFill>
              <a:srgbClr val="C8D4E1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37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AutoShape 5"/>
          <p:cNvSpPr txBox="1"/>
          <p:nvPr/>
        </p:nvSpPr>
        <p:spPr>
          <a:xfrm>
            <a:off x="1524000" y="2063750"/>
            <a:ext cx="419100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表象：被动观望 vs 主动拥抱</a:t>
            </a:r>
          </a:p>
        </p:txBody>
      </p:sp>
      <p:sp>
        <p:nvSpPr>
          <p:cNvPr id="139" name="AutoShape 6"/>
          <p:cNvSpPr txBox="1"/>
          <p:nvPr/>
        </p:nvSpPr>
        <p:spPr>
          <a:xfrm>
            <a:off x="1016000" y="2603499"/>
            <a:ext cx="469900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面对AI浪潮，有人浅尝辄止，有人深挖价值。这种行为上的差异，并非源于简单的技术熟练度，而是一种更深层的选择。</a:t>
            </a:r>
          </a:p>
        </p:txBody>
      </p:sp>
      <p:sp>
        <p:nvSpPr>
          <p:cNvPr id="140" name="AutoShape 7"/>
          <p:cNvSpPr/>
          <p:nvPr/>
        </p:nvSpPr>
        <p:spPr>
          <a:xfrm>
            <a:off x="762000" y="4064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>
            <a:solidFill>
              <a:srgbClr val="C8D4E1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41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AutoShape 9"/>
          <p:cNvSpPr txBox="1"/>
          <p:nvPr/>
        </p:nvSpPr>
        <p:spPr>
          <a:xfrm>
            <a:off x="1524000" y="4349750"/>
            <a:ext cx="419100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本质：认知结构与思维模式</a:t>
            </a:r>
          </a:p>
        </p:txBody>
      </p:sp>
      <p:sp>
        <p:nvSpPr>
          <p:cNvPr id="143" name="AutoShape 10"/>
          <p:cNvSpPr txBox="1"/>
          <p:nvPr/>
        </p:nvSpPr>
        <p:spPr>
          <a:xfrm>
            <a:off x="1016000" y="4889499"/>
            <a:ext cx="469900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高效能人士的核心优势在于其底层思维与AI价值实现路径的高度契合。真正的分水岭，在于是否具备驾驭AI的元认知能力。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AutoShape 2"/>
          <p:cNvSpPr txBox="1"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核心逻辑模型：三层对应关系</a:t>
            </a:r>
          </a:p>
        </p:txBody>
      </p:sp>
      <p:pic>
        <p:nvPicPr>
          <p:cNvPr id="14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rcRect l="0" t="21456" r="0" b="9096"/>
          <a:stretch>
            <a:fillRect/>
          </a:stretch>
        </p:blipFill>
        <p:spPr>
          <a:xfrm>
            <a:off x="751965" y="2236767"/>
            <a:ext cx="9079765" cy="35468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63500" dir="540000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AutoShape 2"/>
          <p:cNvSpPr txBox="1"/>
          <p:nvPr/>
        </p:nvSpPr>
        <p:spPr>
          <a:xfrm>
            <a:off x="551274" y="1276898"/>
            <a:ext cx="106680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第一层：认知层 → 主动积极</a:t>
            </a:r>
          </a:p>
        </p:txBody>
      </p:sp>
      <p:sp>
        <p:nvSpPr>
          <p:cNvPr id="153" name="AutoShape 3"/>
          <p:cNvSpPr/>
          <p:nvPr/>
        </p:nvSpPr>
        <p:spPr>
          <a:xfrm>
            <a:off x="561308" y="2694281"/>
            <a:ext cx="5080001" cy="3810001"/>
          </a:xfrm>
          <a:prstGeom prst="roundRect">
            <a:avLst>
              <a:gd name="adj" fmla="val 3333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54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6108" y="2999081"/>
            <a:ext cx="406401" cy="406401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AutoShape 5"/>
          <p:cNvSpPr txBox="1"/>
          <p:nvPr/>
        </p:nvSpPr>
        <p:spPr>
          <a:xfrm>
            <a:off x="1374108" y="3024481"/>
            <a:ext cx="38100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2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低认知 / 被动消极</a:t>
            </a:r>
          </a:p>
        </p:txBody>
      </p:sp>
      <p:sp>
        <p:nvSpPr>
          <p:cNvPr id="156" name="Connector 6"/>
          <p:cNvSpPr/>
          <p:nvPr/>
        </p:nvSpPr>
        <p:spPr>
          <a:xfrm>
            <a:off x="866108" y="3507081"/>
            <a:ext cx="4470419" cy="1"/>
          </a:xfrm>
          <a:prstGeom prst="line">
            <a:avLst/>
          </a:prstGeom>
          <a:solidFill>
            <a:srgbClr val="DEE0E3"/>
          </a:solidFill>
          <a:ln w="12700">
            <a:solidFill>
              <a:srgbClr val="E5E7EB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57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6108" y="3761081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AutoShape 8"/>
          <p:cNvSpPr txBox="1"/>
          <p:nvPr/>
        </p:nvSpPr>
        <p:spPr>
          <a:xfrm>
            <a:off x="1272508" y="3773781"/>
            <a:ext cx="4064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行为表现</a:t>
            </a:r>
          </a:p>
        </p:txBody>
      </p:sp>
      <p:sp>
        <p:nvSpPr>
          <p:cNvPr id="159" name="AutoShape 9"/>
          <p:cNvSpPr txBox="1"/>
          <p:nvPr/>
        </p:nvSpPr>
        <p:spPr>
          <a:xfrm>
            <a:off x="1272508" y="4186531"/>
            <a:ext cx="40640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对AI发展不了解、不关注，甚至抱有抵触情绪，认为与己无关。</a:t>
            </a:r>
          </a:p>
        </p:txBody>
      </p:sp>
      <p:pic>
        <p:nvPicPr>
          <p:cNvPr id="160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6108" y="4904081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AutoShape 11"/>
          <p:cNvSpPr txBox="1"/>
          <p:nvPr/>
        </p:nvSpPr>
        <p:spPr>
          <a:xfrm>
            <a:off x="1272508" y="4916781"/>
            <a:ext cx="4064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最终结果</a:t>
            </a:r>
          </a:p>
        </p:txBody>
      </p:sp>
      <p:sp>
        <p:nvSpPr>
          <p:cNvPr id="162" name="AutoShape 12"/>
          <p:cNvSpPr txBox="1"/>
          <p:nvPr/>
        </p:nvSpPr>
        <p:spPr>
          <a:xfrm>
            <a:off x="1272508" y="5329531"/>
            <a:ext cx="40640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在AI浪潮中被动落后，技能逐渐脱节，错失数字化转型的发展机遇。</a:t>
            </a:r>
          </a:p>
        </p:txBody>
      </p:sp>
      <p:sp>
        <p:nvSpPr>
          <p:cNvPr id="163" name="AutoShape 13"/>
          <p:cNvSpPr/>
          <p:nvPr/>
        </p:nvSpPr>
        <p:spPr>
          <a:xfrm>
            <a:off x="5778029" y="2694281"/>
            <a:ext cx="5080001" cy="3810001"/>
          </a:xfrm>
          <a:prstGeom prst="roundRect">
            <a:avLst>
              <a:gd name="adj" fmla="val 3333"/>
            </a:avLst>
          </a:prstGeom>
          <a:solidFill>
            <a:srgbClr val="007BFF">
              <a:alpha val="5000"/>
            </a:srgbClr>
          </a:solidFill>
          <a:ln w="12700">
            <a:solidFill>
              <a:srgbClr val="007BFF">
                <a:alpha val="3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64" name="Picture 14" descr="Picture 1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082829" y="2999081"/>
            <a:ext cx="406401" cy="406401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AutoShape 15"/>
          <p:cNvSpPr txBox="1"/>
          <p:nvPr/>
        </p:nvSpPr>
        <p:spPr>
          <a:xfrm>
            <a:off x="6590829" y="3024481"/>
            <a:ext cx="38100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高认知 / 主动积极</a:t>
            </a:r>
          </a:p>
        </p:txBody>
      </p:sp>
      <p:sp>
        <p:nvSpPr>
          <p:cNvPr id="166" name="Connector 16"/>
          <p:cNvSpPr/>
          <p:nvPr/>
        </p:nvSpPr>
        <p:spPr>
          <a:xfrm>
            <a:off x="6082829" y="3507081"/>
            <a:ext cx="4470420" cy="1"/>
          </a:xfrm>
          <a:prstGeom prst="line">
            <a:avLst/>
          </a:prstGeom>
          <a:solidFill>
            <a:srgbClr val="DEE0E3"/>
          </a:solidFill>
          <a:ln w="12700">
            <a:solidFill>
              <a:srgbClr val="007BFF">
                <a:alpha val="20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67" name="Picture 17" descr="Picture 1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082829" y="3761081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AutoShape 18"/>
          <p:cNvSpPr txBox="1"/>
          <p:nvPr/>
        </p:nvSpPr>
        <p:spPr>
          <a:xfrm>
            <a:off x="6489229" y="3773781"/>
            <a:ext cx="4064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行为表现</a:t>
            </a:r>
          </a:p>
        </p:txBody>
      </p:sp>
      <p:sp>
        <p:nvSpPr>
          <p:cNvPr id="169" name="AutoShape 19"/>
          <p:cNvSpPr txBox="1"/>
          <p:nvPr/>
        </p:nvSpPr>
        <p:spPr>
          <a:xfrm>
            <a:off x="6489229" y="4186531"/>
            <a:ext cx="40640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主动学习AI知识，密切关注技术趋势，积极尝试和拥抱新工具。</a:t>
            </a:r>
          </a:p>
        </p:txBody>
      </p:sp>
      <p:pic>
        <p:nvPicPr>
          <p:cNvPr id="170" name="Picture 20" descr="Picture 2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082829" y="4904081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AutoShape 21"/>
          <p:cNvSpPr txBox="1"/>
          <p:nvPr/>
        </p:nvSpPr>
        <p:spPr>
          <a:xfrm>
            <a:off x="6489229" y="4916781"/>
            <a:ext cx="4064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最终结果</a:t>
            </a:r>
          </a:p>
        </p:txBody>
      </p:sp>
      <p:sp>
        <p:nvSpPr>
          <p:cNvPr id="172" name="AutoShape 22"/>
          <p:cNvSpPr txBox="1"/>
          <p:nvPr/>
        </p:nvSpPr>
        <p:spPr>
          <a:xfrm>
            <a:off x="6489229" y="5329531"/>
            <a:ext cx="40640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成为技术变革的弄潮儿，掌握先机，利用AI工具为个人职业发展赋能。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AutoShape 2"/>
          <p:cNvSpPr txBox="1"/>
          <p:nvPr/>
        </p:nvSpPr>
        <p:spPr>
          <a:xfrm>
            <a:off x="284044" y="417375"/>
            <a:ext cx="6010394" cy="1428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第二、三层：目的与价值 → 以终为始 &amp; 要事优先</a:t>
            </a:r>
          </a:p>
        </p:txBody>
      </p:sp>
      <p:sp>
        <p:nvSpPr>
          <p:cNvPr id="177" name="AutoShape 3"/>
          <p:cNvSpPr/>
          <p:nvPr/>
        </p:nvSpPr>
        <p:spPr>
          <a:xfrm>
            <a:off x="210098" y="2081075"/>
            <a:ext cx="10668001" cy="2286001"/>
          </a:xfrm>
          <a:prstGeom prst="roundRect">
            <a:avLst>
              <a:gd name="adj" fmla="val 5555"/>
            </a:avLst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7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4098" y="2182675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AutoShape 5"/>
          <p:cNvSpPr txBox="1"/>
          <p:nvPr/>
        </p:nvSpPr>
        <p:spPr>
          <a:xfrm>
            <a:off x="845098" y="2176325"/>
            <a:ext cx="3810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目的层：以终为始</a:t>
            </a:r>
          </a:p>
        </p:txBody>
      </p:sp>
      <p:sp>
        <p:nvSpPr>
          <p:cNvPr id="180" name="AutoShape 6"/>
          <p:cNvSpPr/>
          <p:nvPr/>
        </p:nvSpPr>
        <p:spPr>
          <a:xfrm>
            <a:off x="464098" y="2627175"/>
            <a:ext cx="4826001" cy="1397001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50800" dir="5400000">
              <a:srgbClr val="000000">
                <a:alpha val="5000"/>
              </a:srgbClr>
            </a:outerShdw>
          </a:effectLst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81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8098" y="2817675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AutoShape 8"/>
          <p:cNvSpPr txBox="1"/>
          <p:nvPr/>
        </p:nvSpPr>
        <p:spPr>
          <a:xfrm>
            <a:off x="1162598" y="2830375"/>
            <a:ext cx="3810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盲目型：无明确目标</a:t>
            </a:r>
          </a:p>
        </p:txBody>
      </p:sp>
      <p:sp>
        <p:nvSpPr>
          <p:cNvPr id="183" name="AutoShape 9"/>
          <p:cNvSpPr txBox="1"/>
          <p:nvPr/>
        </p:nvSpPr>
        <p:spPr>
          <a:xfrm>
            <a:off x="718098" y="3259000"/>
            <a:ext cx="4318001" cy="5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为了使用AI而使用AI，没有明确产出，最终只是“玩”了一把，浪费时间。</a:t>
            </a:r>
          </a:p>
        </p:txBody>
      </p:sp>
      <p:sp>
        <p:nvSpPr>
          <p:cNvPr id="184" name="AutoShape 10"/>
          <p:cNvSpPr/>
          <p:nvPr/>
        </p:nvSpPr>
        <p:spPr>
          <a:xfrm>
            <a:off x="5544098" y="2627175"/>
            <a:ext cx="4826001" cy="1397001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50800" dir="5400000">
              <a:srgbClr val="000000">
                <a:alpha val="5000"/>
              </a:srgbClr>
            </a:outerShdw>
          </a:effectLst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85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98098" y="2817675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AutoShape 12"/>
          <p:cNvSpPr txBox="1"/>
          <p:nvPr/>
        </p:nvSpPr>
        <p:spPr>
          <a:xfrm>
            <a:off x="6242598" y="2830375"/>
            <a:ext cx="3810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目标型：解决具体问题</a:t>
            </a:r>
          </a:p>
        </p:txBody>
      </p:sp>
      <p:sp>
        <p:nvSpPr>
          <p:cNvPr id="187" name="AutoShape 13"/>
          <p:cNvSpPr txBox="1"/>
          <p:nvPr/>
        </p:nvSpPr>
        <p:spPr>
          <a:xfrm>
            <a:off x="5798098" y="3259000"/>
            <a:ext cx="4318001" cy="5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使用前明确要解决的问题或达成的目标，让AI成为实现目标的有力武器。</a:t>
            </a:r>
          </a:p>
        </p:txBody>
      </p:sp>
      <p:sp>
        <p:nvSpPr>
          <p:cNvPr id="188" name="AutoShape 14"/>
          <p:cNvSpPr/>
          <p:nvPr/>
        </p:nvSpPr>
        <p:spPr>
          <a:xfrm>
            <a:off x="210098" y="4532175"/>
            <a:ext cx="10668001" cy="2286001"/>
          </a:xfrm>
          <a:prstGeom prst="roundRect">
            <a:avLst>
              <a:gd name="adj" fmla="val 5555"/>
            </a:avLst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89" name="Picture 15" descr="Picture 1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64098" y="4722675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AutoShape 16"/>
          <p:cNvSpPr txBox="1"/>
          <p:nvPr/>
        </p:nvSpPr>
        <p:spPr>
          <a:xfrm>
            <a:off x="845098" y="4716325"/>
            <a:ext cx="38100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价值层：要事优先</a:t>
            </a:r>
          </a:p>
        </p:txBody>
      </p:sp>
      <p:sp>
        <p:nvSpPr>
          <p:cNvPr id="191" name="AutoShape 17"/>
          <p:cNvSpPr/>
          <p:nvPr/>
        </p:nvSpPr>
        <p:spPr>
          <a:xfrm>
            <a:off x="464098" y="5167175"/>
            <a:ext cx="4826001" cy="1397001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50800" dir="5400000">
              <a:srgbClr val="000000">
                <a:alpha val="5000"/>
              </a:srgbClr>
            </a:outerShdw>
          </a:effectLst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92" name="Picture 18" descr="Picture 1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18098" y="5357675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AutoShape 19"/>
          <p:cNvSpPr txBox="1"/>
          <p:nvPr/>
        </p:nvSpPr>
        <p:spPr>
          <a:xfrm>
            <a:off x="1162598" y="5370375"/>
            <a:ext cx="3810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低价值：简单娱乐与获取</a:t>
            </a:r>
          </a:p>
        </p:txBody>
      </p:sp>
      <p:sp>
        <p:nvSpPr>
          <p:cNvPr id="194" name="AutoShape 20"/>
          <p:cNvSpPr txBox="1"/>
          <p:nvPr/>
        </p:nvSpPr>
        <p:spPr>
          <a:xfrm>
            <a:off x="718098" y="5799000"/>
            <a:ext cx="4318001" cy="5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仅用于简单的信息获取或娱乐消遣，无法创造核心价值，属于低效使用。</a:t>
            </a:r>
          </a:p>
        </p:txBody>
      </p:sp>
      <p:sp>
        <p:nvSpPr>
          <p:cNvPr id="195" name="AutoShape 21"/>
          <p:cNvSpPr/>
          <p:nvPr/>
        </p:nvSpPr>
        <p:spPr>
          <a:xfrm>
            <a:off x="5544098" y="5167175"/>
            <a:ext cx="4826001" cy="1397001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50800" dir="5400000">
              <a:srgbClr val="000000">
                <a:alpha val="5000"/>
              </a:srgbClr>
            </a:outerShdw>
          </a:effectLst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196" name="Picture 22" descr="Picture 2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98098" y="5357675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AutoShape 23"/>
          <p:cNvSpPr txBox="1"/>
          <p:nvPr/>
        </p:nvSpPr>
        <p:spPr>
          <a:xfrm>
            <a:off x="6242598" y="5370375"/>
            <a:ext cx="3810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高价值：核心效能倍增</a:t>
            </a:r>
          </a:p>
        </p:txBody>
      </p:sp>
      <p:sp>
        <p:nvSpPr>
          <p:cNvPr id="198" name="AutoShape 24"/>
          <p:cNvSpPr txBox="1"/>
          <p:nvPr/>
        </p:nvSpPr>
        <p:spPr>
          <a:xfrm>
            <a:off x="5798098" y="5799000"/>
            <a:ext cx="4318001" cy="5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聚焦核心工作与学习，通过AI实现个人效能倍增，甚至创造商业价值。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AutoShape 2"/>
          <p:cNvSpPr txBox="1"/>
          <p:nvPr/>
        </p:nvSpPr>
        <p:spPr>
          <a:xfrm>
            <a:off x="208217" y="858523"/>
            <a:ext cx="770012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AI时代的认知升级与价值跃迁</a:t>
            </a:r>
          </a:p>
        </p:txBody>
      </p:sp>
      <p:sp>
        <p:nvSpPr>
          <p:cNvPr id="203" name="AutoShape 3"/>
          <p:cNvSpPr/>
          <p:nvPr/>
        </p:nvSpPr>
        <p:spPr>
          <a:xfrm>
            <a:off x="298528" y="2082486"/>
            <a:ext cx="3429001" cy="3048001"/>
          </a:xfrm>
          <a:prstGeom prst="roundRect">
            <a:avLst>
              <a:gd name="adj" fmla="val 4166"/>
            </a:avLst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204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3328" y="2387286"/>
            <a:ext cx="609601" cy="609601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AutoShape 5"/>
          <p:cNvSpPr txBox="1"/>
          <p:nvPr/>
        </p:nvSpPr>
        <p:spPr>
          <a:xfrm>
            <a:off x="603328" y="3130236"/>
            <a:ext cx="28194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认知水平决定主动性</a:t>
            </a:r>
          </a:p>
        </p:txBody>
      </p:sp>
      <p:sp>
        <p:nvSpPr>
          <p:cNvPr id="206" name="Connector 6"/>
          <p:cNvSpPr/>
          <p:nvPr/>
        </p:nvSpPr>
        <p:spPr>
          <a:xfrm>
            <a:off x="603328" y="3542986"/>
            <a:ext cx="2819429" cy="1"/>
          </a:xfrm>
          <a:prstGeom prst="line">
            <a:avLst/>
          </a:prstGeom>
          <a:solidFill>
            <a:srgbClr val="DEE0E3"/>
          </a:solidFill>
          <a:ln w="25400">
            <a:solidFill>
              <a:srgbClr val="007BFF">
                <a:alpha val="30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7" name="AutoShape 7"/>
          <p:cNvSpPr txBox="1"/>
          <p:nvPr/>
        </p:nvSpPr>
        <p:spPr>
          <a:xfrm>
            <a:off x="603328" y="3796986"/>
            <a:ext cx="28194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对AI的认知水平，决定你是否主动积极。认知越深刻，拥抱变化的姿态越从容。</a:t>
            </a:r>
          </a:p>
        </p:txBody>
      </p:sp>
      <p:sp>
        <p:nvSpPr>
          <p:cNvPr id="208" name="AutoShape 8"/>
          <p:cNvSpPr/>
          <p:nvPr/>
        </p:nvSpPr>
        <p:spPr>
          <a:xfrm>
            <a:off x="4070428" y="2082486"/>
            <a:ext cx="3429001" cy="3048001"/>
          </a:xfrm>
          <a:prstGeom prst="roundRect">
            <a:avLst>
              <a:gd name="adj" fmla="val 4166"/>
            </a:avLst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209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75228" y="2387286"/>
            <a:ext cx="609601" cy="609601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AutoShape 10"/>
          <p:cNvSpPr txBox="1"/>
          <p:nvPr/>
        </p:nvSpPr>
        <p:spPr>
          <a:xfrm>
            <a:off x="4375228" y="3130236"/>
            <a:ext cx="28194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使用目的决定目标感</a:t>
            </a:r>
          </a:p>
        </p:txBody>
      </p:sp>
      <p:sp>
        <p:nvSpPr>
          <p:cNvPr id="211" name="Connector 11"/>
          <p:cNvSpPr/>
          <p:nvPr/>
        </p:nvSpPr>
        <p:spPr>
          <a:xfrm>
            <a:off x="4375228" y="3542986"/>
            <a:ext cx="2819429" cy="1"/>
          </a:xfrm>
          <a:prstGeom prst="line">
            <a:avLst/>
          </a:prstGeom>
          <a:solidFill>
            <a:srgbClr val="DEE0E3"/>
          </a:solidFill>
          <a:ln w="25400">
            <a:solidFill>
              <a:srgbClr val="007BFF">
                <a:alpha val="30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2" name="AutoShape 12"/>
          <p:cNvSpPr txBox="1"/>
          <p:nvPr/>
        </p:nvSpPr>
        <p:spPr>
          <a:xfrm>
            <a:off x="4375228" y="3796986"/>
            <a:ext cx="28194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用AI的目的，决定你是否以终为始。明确的目标导向，能让技术应用更具穿透力。</a:t>
            </a:r>
          </a:p>
        </p:txBody>
      </p:sp>
      <p:sp>
        <p:nvSpPr>
          <p:cNvPr id="213" name="AutoShape 13"/>
          <p:cNvSpPr/>
          <p:nvPr/>
        </p:nvSpPr>
        <p:spPr>
          <a:xfrm>
            <a:off x="7842328" y="2082486"/>
            <a:ext cx="3429001" cy="3048001"/>
          </a:xfrm>
          <a:prstGeom prst="roundRect">
            <a:avLst>
              <a:gd name="adj" fmla="val 4166"/>
            </a:avLst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214" name="Picture 14" descr="Picture 1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47128" y="2387286"/>
            <a:ext cx="609601" cy="609601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AutoShape 15"/>
          <p:cNvSpPr txBox="1"/>
          <p:nvPr/>
        </p:nvSpPr>
        <p:spPr>
          <a:xfrm>
            <a:off x="8147128" y="3130236"/>
            <a:ext cx="28194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b="1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创造价值决定优先级</a:t>
            </a:r>
          </a:p>
        </p:txBody>
      </p:sp>
      <p:sp>
        <p:nvSpPr>
          <p:cNvPr id="216" name="Connector 16"/>
          <p:cNvSpPr/>
          <p:nvPr/>
        </p:nvSpPr>
        <p:spPr>
          <a:xfrm>
            <a:off x="8147128" y="3542986"/>
            <a:ext cx="2819429" cy="1"/>
          </a:xfrm>
          <a:prstGeom prst="line">
            <a:avLst/>
          </a:prstGeom>
          <a:solidFill>
            <a:srgbClr val="DEE0E3"/>
          </a:solidFill>
          <a:ln w="25400">
            <a:solidFill>
              <a:srgbClr val="007BFF">
                <a:alpha val="30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7" name="AutoShape 17"/>
          <p:cNvSpPr txBox="1"/>
          <p:nvPr/>
        </p:nvSpPr>
        <p:spPr>
          <a:xfrm>
            <a:off x="8147128" y="3796986"/>
            <a:ext cx="28194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用AI创造的价值，决定你是否真正做到要事优先。价值产出是衡量工具效能的唯一标准。</a:t>
            </a:r>
          </a:p>
        </p:txBody>
      </p:sp>
      <p:sp>
        <p:nvSpPr>
          <p:cNvPr id="218" name="AutoShape 18"/>
          <p:cNvSpPr/>
          <p:nvPr/>
        </p:nvSpPr>
        <p:spPr>
          <a:xfrm>
            <a:off x="298528" y="5384486"/>
            <a:ext cx="10972801" cy="1397001"/>
          </a:xfrm>
          <a:prstGeom prst="roundRect">
            <a:avLst>
              <a:gd name="adj" fmla="val 9090"/>
            </a:avLst>
          </a:prstGeom>
          <a:solidFill>
            <a:srgbClr val="007BFF">
              <a:alpha val="8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pic>
        <p:nvPicPr>
          <p:cNvPr id="219" name="Picture 19" descr="Picture 1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03328" y="5701986"/>
            <a:ext cx="406401" cy="406401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AutoShape 20"/>
          <p:cNvSpPr txBox="1"/>
          <p:nvPr/>
        </p:nvSpPr>
        <p:spPr>
          <a:xfrm>
            <a:off x="1136728" y="5782948"/>
            <a:ext cx="9880601" cy="600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/>
            <a:r>
              <a:t>AI不仅是工具，更是一面镜子，照见我们的认知与思维。升级认知，拥抱变化，方能在AI时代实现个人价值的最大化。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